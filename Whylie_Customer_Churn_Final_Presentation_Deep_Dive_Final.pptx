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 not present this slide unless the professor asks. It is included to satisfy the bibliography requirement.</a:t>
            </a:r>
            <a:endParaRPr/>
          </a:p>
        </p:txBody>
      </p:sp>
      <p:sp>
        <p:nvSpPr>
          <p:cNvPr id="287" name="Google Shape;2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0B1F35"/>
          </a:solidFill>
          <a:ln cap="flat" cmpd="sng" w="12700">
            <a:solidFill>
              <a:srgbClr val="0B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" y="841248"/>
            <a:ext cx="6720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Using Machine Learning to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Predict Customer Churn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58368" y="2057400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Analytics Capstone 22477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8368" y="239572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Briana Love Whylie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658368" y="2834640"/>
            <a:ext cx="484632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685800" y="315468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" y="3502152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Telecom providers need to identify customers at risk of leaving before churn occurs so they can focus retention actions earlier and more effectively.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85800" y="440740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4754880"/>
            <a:ext cx="6492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reliably can supervised ML models forecast churn, and which account and behavior features are most associated with churn?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680960" y="1005840"/>
            <a:ext cx="20116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680960" y="1005840"/>
            <a:ext cx="73152" cy="7863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845552" y="1115568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3,150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845552" y="1444752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records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829800" y="1005840"/>
            <a:ext cx="182880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9829800" y="1005840"/>
            <a:ext cx="73152" cy="7863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994392" y="1115568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9994392" y="144475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predictor features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680960" y="2057400"/>
            <a:ext cx="201168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680960" y="2057400"/>
            <a:ext cx="73152" cy="78638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845552" y="2167128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15.7%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7845552" y="2496312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churn class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829800" y="2057400"/>
            <a:ext cx="182880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9829800" y="2057400"/>
            <a:ext cx="73152" cy="7863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9994392" y="2167128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994392" y="249631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models compared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7680960" y="33832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Main output: EDA + model comparison + business interpretation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7790688" y="41330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DBF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6-minute presentation + 4-minute code demo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Only New EDA: What the Data Shows First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Target imbalance and churn signals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hurn_final/outputs/charts/class_distribution.png" id="54" name="Google Shape;54;p4"/>
          <p:cNvPicPr preferRelativeResize="0"/>
          <p:nvPr/>
        </p:nvPicPr>
        <p:blipFill rotWithShape="1">
          <a:blip r:embed="rId3">
            <a:alphaModFix/>
          </a:blip>
          <a:srcRect b="0" l="3818" r="3818" t="0"/>
          <a:stretch/>
        </p:blipFill>
        <p:spPr>
          <a:xfrm>
            <a:off x="594360" y="1005840"/>
            <a:ext cx="4709160" cy="3383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churn_final/outputs/charts/churn_correlations.png" id="55" name="Google Shape;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0620" y="1005840"/>
            <a:ext cx="553520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594360" y="4645152"/>
            <a:ext cx="1325880" cy="2560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667512" y="4695444"/>
            <a:ext cx="11795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EDA TAKEAWAYS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85800" y="5047488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churn class is much smaller: 495 churners vs. 2,655 non-churners.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Accuracy alone is not enough because a majority-class model can look strong while missing churners.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Complaints and account status have the strongest positive relationship with churn.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Lower usage, lower customer value, and fewer distinct calls are associated with higher churn risk.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Proposed Solution: Supervised ML Pipeline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Binary classification workflow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3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40080" y="1170432"/>
            <a:ext cx="144475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13232" y="128930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987552" y="1307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Load data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5"/>
          <p:cNvCxnSpPr/>
          <p:nvPr/>
        </p:nvCxnSpPr>
        <p:spPr>
          <a:xfrm>
            <a:off x="2130552" y="1527048"/>
            <a:ext cx="228600" cy="0"/>
          </a:xfrm>
          <a:prstGeom prst="straightConnector1">
            <a:avLst/>
          </a:prstGeom>
          <a:noFill/>
          <a:ln cap="flat" cmpd="sng" w="17775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5"/>
          <p:cNvSpPr/>
          <p:nvPr/>
        </p:nvSpPr>
        <p:spPr>
          <a:xfrm>
            <a:off x="2578608" y="1170432"/>
            <a:ext cx="144475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2651760" y="128930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2926080" y="1307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EDA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5"/>
          <p:cNvCxnSpPr/>
          <p:nvPr/>
        </p:nvCxnSpPr>
        <p:spPr>
          <a:xfrm>
            <a:off x="4069080" y="1527048"/>
            <a:ext cx="228600" cy="0"/>
          </a:xfrm>
          <a:prstGeom prst="straightConnector1">
            <a:avLst/>
          </a:prstGeom>
          <a:noFill/>
          <a:ln cap="flat" cmpd="sng" w="17775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" name="Google Shape;77;p5"/>
          <p:cNvSpPr/>
          <p:nvPr/>
        </p:nvSpPr>
        <p:spPr>
          <a:xfrm>
            <a:off x="4517136" y="1170432"/>
            <a:ext cx="144475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90288" y="128930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864608" y="1307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Split 80/20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5"/>
          <p:cNvCxnSpPr/>
          <p:nvPr/>
        </p:nvCxnSpPr>
        <p:spPr>
          <a:xfrm>
            <a:off x="6007608" y="1527048"/>
            <a:ext cx="228600" cy="0"/>
          </a:xfrm>
          <a:prstGeom prst="straightConnector1">
            <a:avLst/>
          </a:prstGeom>
          <a:noFill/>
          <a:ln cap="flat" cmpd="sng" w="17775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5"/>
          <p:cNvSpPr/>
          <p:nvPr/>
        </p:nvSpPr>
        <p:spPr>
          <a:xfrm>
            <a:off x="6455664" y="1170432"/>
            <a:ext cx="144475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6528816" y="128930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03136" y="1307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Train models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5"/>
          <p:cNvCxnSpPr/>
          <p:nvPr/>
        </p:nvCxnSpPr>
        <p:spPr>
          <a:xfrm>
            <a:off x="7946136" y="1527048"/>
            <a:ext cx="228600" cy="0"/>
          </a:xfrm>
          <a:prstGeom prst="straightConnector1">
            <a:avLst/>
          </a:prstGeom>
          <a:noFill/>
          <a:ln cap="flat" cmpd="sng" w="17775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5"/>
          <p:cNvSpPr/>
          <p:nvPr/>
        </p:nvSpPr>
        <p:spPr>
          <a:xfrm>
            <a:off x="8394192" y="1170432"/>
            <a:ext cx="1444752" cy="713232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467344" y="128930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741664" y="1307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5"/>
          <p:cNvCxnSpPr/>
          <p:nvPr/>
        </p:nvCxnSpPr>
        <p:spPr>
          <a:xfrm>
            <a:off x="9884664" y="1527048"/>
            <a:ext cx="228600" cy="0"/>
          </a:xfrm>
          <a:prstGeom prst="straightConnector1">
            <a:avLst/>
          </a:prstGeom>
          <a:noFill/>
          <a:ln cap="flat" cmpd="sng" w="17775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9" name="Google Shape;89;p5"/>
          <p:cNvSpPr/>
          <p:nvPr/>
        </p:nvSpPr>
        <p:spPr>
          <a:xfrm>
            <a:off x="10332720" y="1170432"/>
            <a:ext cx="1444752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0405872" y="1289304"/>
            <a:ext cx="25603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680192" y="1307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Interpret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85800" y="239572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Models compared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13232" y="2761488"/>
            <a:ext cx="64008" cy="402336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68680" y="2752344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68680" y="2980944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Interpretable baseline; class-weighted.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13232" y="3419856"/>
            <a:ext cx="64008" cy="402336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868680" y="3410712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68680" y="3639312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Simple tree benchmark; captures rules.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13232" y="4078224"/>
            <a:ext cx="64008" cy="40233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868680" y="406908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68680" y="4297680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Ensemble model for nonlinear tabular patterns.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13232" y="4736592"/>
            <a:ext cx="64008" cy="402336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68680" y="4727448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68680" y="4956048"/>
            <a:ext cx="3383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Strong nonlinear ensemble benchmark.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532120" y="239572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596128" y="2788920"/>
            <a:ext cx="5852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Accuracy: overall correctness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Precision: how many flagged churners actually churned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Recall: how many true churners were found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F1-score: balance between precision and recall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ROC-AUC: separation between churn/non-churn across thresholds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669280" y="5230368"/>
            <a:ext cx="5623560" cy="585216"/>
          </a:xfrm>
          <a:prstGeom prst="rect">
            <a:avLst/>
          </a:prstGeom>
          <a:solidFill>
            <a:srgbClr val="EEF6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870448" y="5431536"/>
            <a:ext cx="5212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Success criteria: strong recall and F1-score, high ROC-AUC, and interpretable churn drivers.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Results: Model Performance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Holdout test set comparison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4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hurn_final/outputs/charts/model_performance.pn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9088" r="9088" t="0"/>
          <a:stretch/>
        </p:blipFill>
        <p:spPr>
          <a:xfrm>
            <a:off x="548640" y="960120"/>
            <a:ext cx="603504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6903720" y="1188720"/>
            <a:ext cx="1389888" cy="347472"/>
          </a:xfrm>
          <a:prstGeom prst="rect">
            <a:avLst/>
          </a:prstGeom>
          <a:solidFill>
            <a:srgbClr val="102A43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949440" y="1298448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293608" y="1188720"/>
            <a:ext cx="621792" cy="347472"/>
          </a:xfrm>
          <a:prstGeom prst="rect">
            <a:avLst/>
          </a:prstGeom>
          <a:solidFill>
            <a:srgbClr val="102A43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8339328" y="1298448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915400" y="1188720"/>
            <a:ext cx="621792" cy="347472"/>
          </a:xfrm>
          <a:prstGeom prst="rect">
            <a:avLst/>
          </a:prstGeom>
          <a:solidFill>
            <a:srgbClr val="102A43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961120" y="1298448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9537192" y="1188720"/>
            <a:ext cx="658368" cy="347472"/>
          </a:xfrm>
          <a:prstGeom prst="rect">
            <a:avLst/>
          </a:prstGeom>
          <a:solidFill>
            <a:srgbClr val="102A43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582912" y="1298448"/>
            <a:ext cx="56692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10195560" y="1188720"/>
            <a:ext cx="566928" cy="347472"/>
          </a:xfrm>
          <a:prstGeom prst="rect">
            <a:avLst/>
          </a:prstGeom>
          <a:solidFill>
            <a:srgbClr val="102A43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241280" y="1298448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762488" y="1188720"/>
            <a:ext cx="566928" cy="347472"/>
          </a:xfrm>
          <a:prstGeom prst="rect">
            <a:avLst/>
          </a:prstGeom>
          <a:solidFill>
            <a:srgbClr val="102A43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0808208" y="1298448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AUC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903720" y="1536192"/>
            <a:ext cx="1389888" cy="34747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949440" y="1645920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293608" y="1536192"/>
            <a:ext cx="621792" cy="34747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8339328" y="1645920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.965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915400" y="1536192"/>
            <a:ext cx="621792" cy="34747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8961120" y="1645920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.914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537192" y="1536192"/>
            <a:ext cx="658368" cy="34747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9582912" y="1645920"/>
            <a:ext cx="56692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.859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0195560" y="1536192"/>
            <a:ext cx="566928" cy="34747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241280" y="1645920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.885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762488" y="1536192"/>
            <a:ext cx="566928" cy="347472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0808208" y="1645920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.988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903720" y="1883664"/>
            <a:ext cx="138988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949440" y="1993392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Grad. Boosting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293608" y="1883664"/>
            <a:ext cx="621792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8339328" y="1993392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.948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915400" y="1883664"/>
            <a:ext cx="621792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8961120" y="1993392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.875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537192" y="1883664"/>
            <a:ext cx="65836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582912" y="1993392"/>
            <a:ext cx="56692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.778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0195560" y="1883664"/>
            <a:ext cx="5669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241280" y="1993392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.824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0762488" y="1883664"/>
            <a:ext cx="5669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10808208" y="1993392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.974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903720" y="2231136"/>
            <a:ext cx="138988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949440" y="2340864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Decision Tree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293608" y="2231136"/>
            <a:ext cx="621792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339328" y="2340864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.857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915400" y="2231136"/>
            <a:ext cx="621792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961120" y="2340864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.527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537192" y="2231136"/>
            <a:ext cx="65836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582912" y="2340864"/>
            <a:ext cx="56692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.879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0195560" y="2231136"/>
            <a:ext cx="5669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10241280" y="2340864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.659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0762488" y="2231136"/>
            <a:ext cx="5669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0808208" y="2340864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.924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903720" y="2578608"/>
            <a:ext cx="138988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949440" y="2688336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Logistic Reg.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293608" y="2578608"/>
            <a:ext cx="621792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339328" y="268833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.841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8915400" y="2578608"/>
            <a:ext cx="621792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8961120" y="2688336"/>
            <a:ext cx="530352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.497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9537192" y="2578608"/>
            <a:ext cx="65836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9582912" y="2688336"/>
            <a:ext cx="56692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.859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0195560" y="2578608"/>
            <a:ext cx="5669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10241280" y="2688336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.630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762488" y="2578608"/>
            <a:ext cx="566928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10808208" y="2688336"/>
            <a:ext cx="475488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.924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903720" y="3657600"/>
            <a:ext cx="1005840" cy="2560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976872" y="3707892"/>
            <a:ext cx="8595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931152" y="4069080"/>
            <a:ext cx="46177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Random Forest had the strongest overall balance: highest accuracy, F1-score, and ROC-AUC.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Decision Tree found many churners, but created more false alarms, lowering precision.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Gradient Boosting had strong precision but missed more churners than Random Forest.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For churn prevention, F1-score and ROC-AUC are stronger success measures than accuracy alone.</a:t>
            </a:r>
            <a:endParaRPr sz="11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Results: Best Model Error Pattern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Random Forest confusion matrix and ROC curve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5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hurn_final/outputs/charts/random_forest_confusion_matrix.png" id="193" name="Google Shape;193;p7"/>
          <p:cNvPicPr preferRelativeResize="0"/>
          <p:nvPr/>
        </p:nvPicPr>
        <p:blipFill rotWithShape="1">
          <a:blip r:embed="rId3">
            <a:alphaModFix/>
          </a:blip>
          <a:srcRect b="4543" l="0" r="0" t="4543"/>
          <a:stretch/>
        </p:blipFill>
        <p:spPr>
          <a:xfrm>
            <a:off x="685800" y="960120"/>
            <a:ext cx="484632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churn_final/outputs/charts/roc_curves.png" id="194" name="Google Shape;194;p7"/>
          <p:cNvPicPr preferRelativeResize="0"/>
          <p:nvPr/>
        </p:nvPicPr>
        <p:blipFill rotWithShape="1">
          <a:blip r:embed="rId4">
            <a:alphaModFix/>
          </a:blip>
          <a:srcRect b="222" l="0" r="0" t="222"/>
          <a:stretch/>
        </p:blipFill>
        <p:spPr>
          <a:xfrm>
            <a:off x="5897880" y="960120"/>
            <a:ext cx="553212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731520" y="5285232"/>
            <a:ext cx="228600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31520" y="5285232"/>
            <a:ext cx="73152" cy="78638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96112" y="539496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85 / 99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96112" y="5724144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true churners correctly identified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246120" y="5285232"/>
            <a:ext cx="182880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246120" y="5285232"/>
            <a:ext cx="73152" cy="78638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410712" y="5394960"/>
            <a:ext cx="1572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3410712" y="572414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missed churners on test set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5943600" y="5285232"/>
            <a:ext cx="2103120" cy="7863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5943600" y="5285232"/>
            <a:ext cx="73152" cy="786384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108192" y="5394960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0.988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108192" y="5724144"/>
            <a:ext cx="18470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Random Forest ROC-AUC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275320" y="5321808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70"/>
              <a:buFont typeface="Arial"/>
              <a:buNone/>
            </a:pPr>
            <a:r>
              <a:rPr lang="en-US" sz="107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Interpretation: the model separates churners from non-churners very well, but future threshold tuning could raise recall if missing churners is more costly than false alerts.</a:t>
            </a:r>
            <a:endParaRPr sz="107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Results: What Feature Importance Means</a:t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Random Forest feature importance interpretation</a:t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6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churn_final/outputs/charts/random_forest_feature_importance.png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1240" r="1240" t="0"/>
          <a:stretch/>
        </p:blipFill>
        <p:spPr>
          <a:xfrm>
            <a:off x="685800" y="960120"/>
            <a:ext cx="612648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7114032" y="1051560"/>
            <a:ext cx="1234440" cy="25603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187184" y="1101852"/>
            <a:ext cx="10881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POINT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7150608" y="1444752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value like 0.190 for Complaints means complaints contribute about 19% of the Random Forest's total split-based importance.</a:t>
            </a:r>
            <a:endParaRPr/>
          </a:p>
        </p:txBody>
      </p:sp>
      <p:cxnSp>
        <p:nvCxnSpPr>
          <p:cNvPr id="222" name="Google Shape;222;p8"/>
          <p:cNvCxnSpPr/>
          <p:nvPr/>
        </p:nvCxnSpPr>
        <p:spPr>
          <a:xfrm>
            <a:off x="7150608" y="2240280"/>
            <a:ext cx="4160520" cy="0"/>
          </a:xfrm>
          <a:prstGeom prst="straightConnector1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8"/>
          <p:cNvSpPr/>
          <p:nvPr/>
        </p:nvSpPr>
        <p:spPr>
          <a:xfrm>
            <a:off x="7178040" y="2542032"/>
            <a:ext cx="4389120" cy="2176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Importance scores add to 1.0 and show how much the model relied on each feature.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A higher bar means the feature was more useful for separating churners from non-churners.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Complaints ranks first, followed by subscription length, status, seconds of use, and frequency of use.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It is not a churn probability and it does not prove causation by itself.</a:t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7178040" y="5102352"/>
            <a:ext cx="4251960" cy="594360"/>
          </a:xfrm>
          <a:prstGeom prst="rect">
            <a:avLst/>
          </a:prstGeom>
          <a:solidFill>
            <a:srgbClr val="E0F2FE"/>
          </a:solidFill>
          <a:ln cap="flat" cmpd="sng" w="12700">
            <a:solidFill>
              <a:srgbClr val="E0F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7360920" y="5294376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Interpretation: feature importance shows model reliance. The next step is to test whether those features also line up with real churn-rate differences in the raw data.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086600" y="5440680"/>
            <a:ext cx="4251960" cy="731520"/>
          </a:xfrm>
          <a:prstGeom prst="rect">
            <a:avLst/>
          </a:prstGeom>
          <a:solidFill>
            <a:srgbClr val="DEECF6"/>
          </a:solidFill>
          <a:ln cap="flat" cmpd="sng" w="9525">
            <a:solidFill>
              <a:srgbClr val="DEECF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Interpretation: feature importance shows model reliance. The next step is to test whether those features also line up with real churn-rate differences in the raw data.</a:t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6995160" y="5138928"/>
            <a:ext cx="452628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7086600" y="5303520"/>
            <a:ext cx="4206240" cy="868680"/>
          </a:xfrm>
          <a:prstGeom prst="roundRect">
            <a:avLst>
              <a:gd fmla="val 16667" name="adj"/>
            </a:avLst>
          </a:prstGeom>
          <a:solidFill>
            <a:srgbClr val="DEECF6"/>
          </a:solidFill>
          <a:ln cap="flat" cmpd="sng" w="9525">
            <a:solidFill>
              <a:srgbClr val="DEECF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Interpretation: feature importance shows model reliance. The next step is to test whether those features also line up with real churn-rate differences in the raw data.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Analysis: Why Complaints and Low Usage Matter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Going beyond feature importance</a:t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7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822960" y="1234440"/>
            <a:ext cx="3154680" cy="13533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987552" y="144475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444752" y="13898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1444752" y="1792224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Use the model to score customers for churn probability.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526280" y="1234440"/>
            <a:ext cx="3154680" cy="1353312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690872" y="144475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148072" y="13898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Diagnose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148072" y="1792224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Review top drivers: status, low usage, complaints, customer value.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8229600" y="1234440"/>
            <a:ext cx="3154680" cy="13533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394192" y="1444752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8851392" y="138988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Intervene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851392" y="1792224"/>
            <a:ext cx="2240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Prioritize service recovery, plan review, and retention outreach.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4069080" y="1911096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9"/>
          <p:cNvCxnSpPr/>
          <p:nvPr/>
        </p:nvCxnSpPr>
        <p:spPr>
          <a:xfrm>
            <a:off x="7772400" y="1911096"/>
            <a:ext cx="384048" cy="0"/>
          </a:xfrm>
          <a:prstGeom prst="straightConnector1">
            <a:avLst/>
          </a:prstGeom>
          <a:noFill/>
          <a:ln cap="flat" cmpd="sng" w="20300">
            <a:solidFill>
              <a:srgbClr val="1D4E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9"/>
          <p:cNvSpPr/>
          <p:nvPr/>
        </p:nvSpPr>
        <p:spPr>
          <a:xfrm>
            <a:off x="822960" y="3273552"/>
            <a:ext cx="1920240" cy="25603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96112" y="3323844"/>
            <a:ext cx="177393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RANDOM FOREST WON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914400" y="3675888"/>
            <a:ext cx="10424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Logistic Regression is useful as a baseline, but it assumes simpler linear relationships.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single Decision Tree is easy to explain but can become unstable and overfit rules.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Random Forest averages many trees, helping capture nonlinear interactions while keeping errors low.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best model supports practical retention: fewer missed churners and a clear ranked list of drivers.</a:t>
            </a:r>
            <a:endParaRPr sz="12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914400" y="5577840"/>
            <a:ext cx="102412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Overall acceptability: the solution is appropriate for an academic churn benchmark and consistent with literature favoring ensemble methods and multiple metrics.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502920" y="1097280"/>
            <a:ext cx="11109960" cy="4709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plaint_churn_rate.png" id="258" name="Google Shape;25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17320"/>
            <a:ext cx="3931920" cy="2609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age_quartile_churn_rates.png"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417320"/>
            <a:ext cx="5532120" cy="218239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/>
          <p:nvPr/>
        </p:nvSpPr>
        <p:spPr>
          <a:xfrm>
            <a:off x="749808" y="4069080"/>
            <a:ext cx="3840480" cy="105156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62A56"/>
                </a:solidFill>
                <a:latin typeface="Arial"/>
                <a:ea typeface="Arial"/>
                <a:cs typeface="Arial"/>
                <a:sym typeface="Arial"/>
              </a:rPr>
              <a:t>Complaints deep dive</a:t>
            </a:r>
            <a:br>
              <a:rPr b="1" lang="en-US" sz="1400">
                <a:solidFill>
                  <a:srgbClr val="162A56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Complaint group churn rate = 83.0%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No-complaint group churn rate = 10.1%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Gap = 72.8 percentage points (about 8.2x higher risk)</a:t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4892040" y="4069080"/>
            <a:ext cx="5486400" cy="105156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DCE1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62A56"/>
                </a:solidFill>
                <a:latin typeface="Arial"/>
                <a:ea typeface="Arial"/>
                <a:cs typeface="Arial"/>
                <a:sym typeface="Arial"/>
              </a:rPr>
              <a:t>Usage deep dive</a:t>
            </a:r>
            <a:br>
              <a:rPr b="1" lang="en-US" sz="1400">
                <a:solidFill>
                  <a:srgbClr val="162A56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Lowest seconds-of-use quartile churns at 35.7% vs 0.0% in the highest quartile</a:t>
            </a:r>
            <a:b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• Lowest frequency-of-use quartile churns at 32.2% vs 1.7% in the highest quartile</a:t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777240" y="5285232"/>
            <a:ext cx="9555480" cy="365760"/>
          </a:xfrm>
          <a:prstGeom prst="roundRect">
            <a:avLst>
              <a:gd fmla="val 16667" name="adj"/>
            </a:avLst>
          </a:prstGeom>
          <a:solidFill>
            <a:srgbClr val="FFF5E6"/>
          </a:solidFill>
          <a:ln cap="flat" cmpd="sng" w="9525">
            <a:solidFill>
              <a:srgbClr val="F4D2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Takeaway: complaints look like dissatisfaction signals, while seconds/frequency of use behave like engagement signals. These variables strongly predict churn, but the safest academic wording is “predictors” or “warning signs,” not proof of sole causation.</a:t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02920" y="5285232"/>
            <a:ext cx="111556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77240" y="5266944"/>
            <a:ext cx="9646920" cy="530352"/>
          </a:xfrm>
          <a:prstGeom prst="roundRect">
            <a:avLst>
              <a:gd fmla="val 16667" name="adj"/>
            </a:avLst>
          </a:prstGeom>
          <a:solidFill>
            <a:srgbClr val="FFF5E6"/>
          </a:solidFill>
          <a:ln cap="flat" cmpd="sng" w="9525">
            <a:solidFill>
              <a:srgbClr val="F4D2A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Takeaway: complaints look like dissatisfaction signals, while seconds/frequency of use behave like engagement signals. These variables strongly predict churn, but the safest academic wording is “predictors” or “warning signs,” not proof of sole causation.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Conclusion and Future Work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Final takeaway and next steps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8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685800" y="960120"/>
            <a:ext cx="5212080" cy="434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960120" y="12252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987552" y="1719072"/>
            <a:ext cx="461772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Supervised machine learning can predict churn effectively on this telecom dataset.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Random Forest was the strongest model overall, with 0.965 accuracy, 0.885 F1-score, and 0.988 ROC-AUC.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strongest churn signals are service/account status, usage behavior, complaints, and customer value.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solution is acceptable as a capstone model because it is accurate, explainable at the feature level, and tied to retention decisions.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0" y="960120"/>
            <a:ext cx="5074920" cy="434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6675120" y="122529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693408" y="1719072"/>
            <a:ext cx="4480560" cy="2359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Tune the probability threshold based on business cost of false negatives vs. false positives.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 SHAP or LIME for customer-level explanations.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Test calibrated probabilities and cost-sensitive learning.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Validate on additional telecom datasets or newer time periods to test generalizability.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14400" y="5559552"/>
            <a:ext cx="10195560" cy="438912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1115568" y="5715000"/>
            <a:ext cx="97840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 plan: run churn_analysis.py, open the metrics/charts outputs, then run demo_predict_single_customer.py for one customer risk score.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0" y="0"/>
            <a:ext cx="12191695" cy="676656"/>
          </a:xfrm>
          <a:prstGeom prst="rect">
            <a:avLst/>
          </a:prstGeom>
          <a:solidFill>
            <a:srgbClr val="102A43"/>
          </a:solidFill>
          <a:ln cap="flat" cmpd="sng" w="12700">
            <a:solidFill>
              <a:srgbClr val="102A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11480" y="146304"/>
            <a:ext cx="7589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Play"/>
              <a:buNone/>
            </a:pPr>
            <a:r>
              <a:rPr b="1" lang="en-US" sz="2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References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8183880" y="21945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CEBFF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CEBFF"/>
                </a:solidFill>
                <a:latin typeface="Arial"/>
                <a:ea typeface="Arial"/>
                <a:cs typeface="Arial"/>
                <a:sym typeface="Arial"/>
              </a:rPr>
              <a:t>Bibliography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11480" y="6473952"/>
            <a:ext cx="6949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Briana Love Whylie | Analytics Capstone 22477 | Slide 9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9692640" y="64739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Customer Churn Prediction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85800" y="1051560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[1] Iranian Churn Dataset, UCI Machine Learning Repository, 2020. doi: 10.24432/C5JW3Z.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85800" y="1673352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[2] A. Keramati and S. M. S. Ardabili, “Churn analysis for an Iranian mobile operator,” Telecommunications Policy, 35(4), 344-356, 2011.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85800" y="2295144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[3] W. Verbeke, D. Martens, C. Mues, and B. Baesens, “Building comprehensible customer churn prediction models with advanced rule induction techniques,” Expert Systems with Applications, 38(3), 2354-2364, 2011.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85800" y="2916936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[4] A. Idris, M. Rizwan, and A. Khan, “Churn prediction in telecom using Random Forest and PSO based data balancing,” Computers &amp; Electrical Engineering, 38(6), 1808-1819, 2012.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85800" y="3538728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[5] A. K. Ahmad, A. Jafar, and K. Aljoumaa, “Customer churn prediction in telecom using machine learning in big data platform,” Journal of Big Data, 6, 28, 2019.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85800" y="4160520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[6] A. Barsotti et al., “A Decade of Churn Prediction Techniques in the TelCo Domain: A Survey,” SN Computer Science, 5, 404, 2024.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85800" y="4782312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[7] S. S. Poudel, S. Pokharel, and M. Timilsina, “Explaining customer churn prediction in telecom industry using tabular machine learning models,” Machine Learning with Applications, 17, 100567, 2024.</a:t>
            </a:r>
            <a:endParaRPr sz="10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85800" y="5897880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Arial"/>
              <a:buNone/>
            </a:pPr>
            <a:r>
              <a:rPr i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This reference slide does not need to be presented in the six-minute talk unless asked.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